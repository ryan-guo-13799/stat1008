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a63f1e557c4fff" /><Relationship Type="http://schemas.openxmlformats.org/officeDocument/2006/relationships/extended-properties" Target="/docProps/app.xml" Id="R852f6ad19a894c43" /><Relationship Type="http://schemas.openxmlformats.org/officeDocument/2006/relationships/officeDocument" Target="/ppt/presentation.xml" Id="R706c1decf53946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203acb0326431b"/>
  </p:sldMasterIdLst>
  <p:notesMasterIdLst>
    <p:notesMasterId xmlns:r="http://schemas.openxmlformats.org/officeDocument/2006/relationships" r:id="Rd36b4030d05c4ae0"/>
  </p:notesMasterIdLst>
  <p:sldIdLst>
    <p:sldId xmlns:r="http://schemas.openxmlformats.org/officeDocument/2006/relationships" id="256" r:id="Rc4413c78b5b54cca"/>
    <p:sldId xmlns:r="http://schemas.openxmlformats.org/officeDocument/2006/relationships" id="257" r:id="Rd5b91a21711d442a"/>
    <p:sldId xmlns:r="http://schemas.openxmlformats.org/officeDocument/2006/relationships" id="258" r:id="Ra9114121dcb64862"/>
    <p:sldId xmlns:r="http://schemas.openxmlformats.org/officeDocument/2006/relationships" id="259" r:id="R17a4996620ef404a"/>
    <p:sldId xmlns:r="http://schemas.openxmlformats.org/officeDocument/2006/relationships" id="260" r:id="Rfa02914c8dd84e3d"/>
    <p:sldId xmlns:r="http://schemas.openxmlformats.org/officeDocument/2006/relationships" id="261" r:id="Rea7b803086c44159"/>
    <p:sldId xmlns:r="http://schemas.openxmlformats.org/officeDocument/2006/relationships" id="262" r:id="Rc035b91c11f74d6e"/>
    <p:sldId xmlns:r="http://schemas.openxmlformats.org/officeDocument/2006/relationships" id="263" r:id="Rf680ef008b0045ef"/>
    <p:sldId xmlns:r="http://schemas.openxmlformats.org/officeDocument/2006/relationships" id="264" r:id="R64cc8fc722b249ce"/>
    <p:sldId xmlns:r="http://schemas.openxmlformats.org/officeDocument/2006/relationships" id="265" r:id="R4b9c48e721634dcf"/>
    <p:sldId xmlns:r="http://schemas.openxmlformats.org/officeDocument/2006/relationships" id="266" r:id="R41ecfe482c3a4a36"/>
    <p:sldId xmlns:r="http://schemas.openxmlformats.org/officeDocument/2006/relationships" id="267" r:id="R7a89cc43530f4e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2abd58e5bb4a52" /><Relationship Type="http://schemas.openxmlformats.org/officeDocument/2006/relationships/slideMaster" Target="/ppt/slideMasters/slideMaster1.xml" Id="R7a203acb0326431b" /><Relationship Type="http://schemas.openxmlformats.org/officeDocument/2006/relationships/notesMaster" Target="/ppt/notesMasters/notesMaster1.xml" Id="Rd36b4030d05c4ae0" /><Relationship Type="http://schemas.openxmlformats.org/officeDocument/2006/relationships/presProps" Target="/ppt/presProps.xml" Id="Rdfc79223dedb46ae" /><Relationship Type="http://schemas.openxmlformats.org/officeDocument/2006/relationships/tableStyles" Target="/ppt/tableStyles.xml" Id="Rfb638a3efb94448a" /><Relationship Type="http://schemas.openxmlformats.org/officeDocument/2006/relationships/slide" Target="/ppt/slides/slide1.xml" Id="Rc4413c78b5b54cca" /><Relationship Type="http://schemas.openxmlformats.org/officeDocument/2006/relationships/slide" Target="/ppt/slides/slide2.xml" Id="Rd5b91a21711d442a" /><Relationship Type="http://schemas.openxmlformats.org/officeDocument/2006/relationships/slide" Target="/ppt/slides/slide3.xml" Id="Ra9114121dcb64862" /><Relationship Type="http://schemas.openxmlformats.org/officeDocument/2006/relationships/slide" Target="/ppt/slides/slide4.xml" Id="R17a4996620ef404a" /><Relationship Type="http://schemas.openxmlformats.org/officeDocument/2006/relationships/slide" Target="/ppt/slides/slide5.xml" Id="Rfa02914c8dd84e3d" /><Relationship Type="http://schemas.openxmlformats.org/officeDocument/2006/relationships/slide" Target="/ppt/slides/slide6.xml" Id="Rea7b803086c44159" /><Relationship Type="http://schemas.openxmlformats.org/officeDocument/2006/relationships/slide" Target="/ppt/slides/slide7.xml" Id="Rc035b91c11f74d6e" /><Relationship Type="http://schemas.openxmlformats.org/officeDocument/2006/relationships/slide" Target="/ppt/slides/slide8.xml" Id="Rf680ef008b0045ef" /><Relationship Type="http://schemas.openxmlformats.org/officeDocument/2006/relationships/slide" Target="/ppt/slides/slide9.xml" Id="R64cc8fc722b249ce" /><Relationship Type="http://schemas.openxmlformats.org/officeDocument/2006/relationships/slide" Target="/ppt/slides/slide10.xml" Id="R4b9c48e721634dcf" /><Relationship Type="http://schemas.openxmlformats.org/officeDocument/2006/relationships/slide" Target="/ppt/slides/slide11.xml" Id="R41ecfe482c3a4a36" /><Relationship Type="http://schemas.openxmlformats.org/officeDocument/2006/relationships/slide" Target="/ppt/slides/slide12.xml" Id="R7a89cc43530f4e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4267ff554f4c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9d886d97cd4191" /><Relationship Type="http://schemas.openxmlformats.org/officeDocument/2006/relationships/notesMaster" Target="/ppt/notesMasters/notesMaster1.xml" Id="R8d8851b6284c4e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8eb0b790224d07" /><Relationship Type="http://schemas.openxmlformats.org/officeDocument/2006/relationships/notesMaster" Target="/ppt/notesMasters/notesMaster1.xml" Id="R1d33b4f0054949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9feb46136c4525" /><Relationship Type="http://schemas.openxmlformats.org/officeDocument/2006/relationships/notesMaster" Target="/ppt/notesMasters/notesMaster1.xml" Id="R4171d5d8229e40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9b17b612ca4c21" /><Relationship Type="http://schemas.openxmlformats.org/officeDocument/2006/relationships/notesMaster" Target="/ppt/notesMasters/notesMaster1.xml" Id="Rf7713e57d57d42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9cf18447ab4f32" /><Relationship Type="http://schemas.openxmlformats.org/officeDocument/2006/relationships/notesMaster" Target="/ppt/notesMasters/notesMaster1.xml" Id="R92a8987455514a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455cc52d0748ef" /><Relationship Type="http://schemas.openxmlformats.org/officeDocument/2006/relationships/notesMaster" Target="/ppt/notesMasters/notesMaster1.xml" Id="R4b057994e3354b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8c67432ec9473c" /><Relationship Type="http://schemas.openxmlformats.org/officeDocument/2006/relationships/notesMaster" Target="/ppt/notesMasters/notesMaster1.xml" Id="Rc47e0ebb7b634d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905a2bc795498d" /><Relationship Type="http://schemas.openxmlformats.org/officeDocument/2006/relationships/notesMaster" Target="/ppt/notesMasters/notesMaster1.xml" Id="Rbf05f1112a6b4f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780747dbaa4b32" /><Relationship Type="http://schemas.openxmlformats.org/officeDocument/2006/relationships/notesMaster" Target="/ppt/notesMasters/notesMaster1.xml" Id="Ra73e98dec4fa4f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8aac8b116b466b" /><Relationship Type="http://schemas.openxmlformats.org/officeDocument/2006/relationships/notesMaster" Target="/ppt/notesMasters/notesMaster1.xml" Id="R44ceecea5e3049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7e2cbd15734502" /><Relationship Type="http://schemas.openxmlformats.org/officeDocument/2006/relationships/notesMaster" Target="/ppt/notesMasters/notesMaster1.xml" Id="Rfff896504f804f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1398177efc4c9a" /><Relationship Type="http://schemas.openxmlformats.org/officeDocument/2006/relationships/notesMaster" Target="/ppt/notesMasters/notesMaster1.xml" Id="R4df53baf91ad43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the group member placeholder. Keep the title slide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STAT1008 instructions, Semester 2 2026, pp. 5 and 7. Complete the declaration truthfully and confirm allowed use with the tutor if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Sakar, C. &amp; Kastro, Y. (2018), Online Shoppers Purchasing Intention Dataset, UCI Machine Learning Repository, DOI 10.24432/C5F88Q. UCI dataset page: https://archive.ics.uci.edu/dataset/468/online+shoppers+purchasing+intention+dataset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UCI describes the dataset as session records and says each session belongs to a different user during a one-year period. The VisitorType counts below were checked in the original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UCI citation and assignment reference are starter entries. Verify the required ANU Harvard formatting and add all sources actually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4cd7fabb44d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91f4fe922d4ddf" /><Relationship Type="http://schemas.openxmlformats.org/officeDocument/2006/relationships/slideLayout" Target="/ppt/slideLayouts/slideLayout1.xml" Id="R01328a0954de4d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328a0954de4d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b13830f394574" /><Relationship Type="http://schemas.openxmlformats.org/officeDocument/2006/relationships/notesSlide" Target="/ppt/notesSlides/notesSlide1.xml" Id="R3cfa8975f36d4a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d5325bbbf46f6" /><Relationship Type="http://schemas.openxmlformats.org/officeDocument/2006/relationships/notesSlide" Target="/ppt/notesSlides/notesSlide2.xml" Id="R9347613835e243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16f777683445a" /><Relationship Type="http://schemas.openxmlformats.org/officeDocument/2006/relationships/notesSlide" Target="/ppt/notesSlides/notesSlide3.xml" Id="Rc5d1dda470e94c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71edab1914028" /><Relationship Type="http://schemas.openxmlformats.org/officeDocument/2006/relationships/notesSlide" Target="/ppt/notesSlides/notesSlide4.xml" Id="Rb487ae1bb23445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8309a112f4d0f" /><Relationship Type="http://schemas.openxmlformats.org/officeDocument/2006/relationships/notesSlide" Target="/ppt/notesSlides/notesSlide5.xml" Id="R407a9d279fc845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4c387dedb41d3" /><Relationship Type="http://schemas.openxmlformats.org/officeDocument/2006/relationships/notesSlide" Target="/ppt/notesSlides/notesSlide6.xml" Id="R56a0ba2bc19041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c68e2dd484846" /><Relationship Type="http://schemas.openxmlformats.org/officeDocument/2006/relationships/notesSlide" Target="/ppt/notesSlides/notesSlide7.xml" Id="R2956ab756e0548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87cdba0304cc7" /><Relationship Type="http://schemas.openxmlformats.org/officeDocument/2006/relationships/notesSlide" Target="/ppt/notesSlides/notesSlide8.xml" Id="Re39b7518ea8248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1f362543f4c2f" /><Relationship Type="http://schemas.openxmlformats.org/officeDocument/2006/relationships/notesSlide" Target="/ppt/notesSlides/notesSlide9.xml" Id="R8ef7262e1a884e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bb0096a7a4765" /><Relationship Type="http://schemas.openxmlformats.org/officeDocument/2006/relationships/notesSlide" Target="/ppt/notesSlides/notesSlide10.xml" Id="R99549bd5aa374c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f38150b704da4" /><Relationship Type="http://schemas.openxmlformats.org/officeDocument/2006/relationships/notesSlide" Target="/ppt/notesSlides/notesSlide11.xml" Id="Rb59050c5ac944c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47cace63a4a4c" /><Relationship Type="http://schemas.openxmlformats.org/officeDocument/2006/relationships/notesSlide" Target="/ppt/notesSlides/notesSlide12.xml" Id="Ra5b860756f7941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08E85-23C1-45C4-B0A1-EC93C0C3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65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Product page duration</a:t>
            </a:r>
          </a:p>
          <a:p xmlns:a="http://schemas.openxmlformats.org/drawingml/2006/main">
            <a:pPr>
              <a:defRPr sz="465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65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by visitor 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20046-472D-4CE3-89F2-27A7B511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7A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7A78"/>
                </a:solidFill>
                <a:latin typeface="Bitstream Charter"/>
                <a:ea typeface="Bitstream Charter"/>
                <a:cs typeface="Bitstream Charter"/>
              </a:rPr>
              <a:t>STAT1008 Quantitative Research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85204-05B1-46CB-A6FB-AD41B1FE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[Group member names]</a:t>
            </a:r>
          </a:p>
        </p:txBody>
      </p:sp>
    </p:spTree>
    <p:extLst>
      <p:ext uri="{BB962C8B-B14F-4D97-AF65-F5344CB8AC3E}">
        <p14:creationId xmlns:p14="http://schemas.microsoft.com/office/powerpoint/2010/main" val="2040398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4546B-8120-4B50-B3E3-9CB94975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AI-use declaration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11194-4DF0-49D8-A125-3C35C69E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C47F2-C752-4E4F-947C-CF73B3D2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3632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Complete the required declaration truthfully: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“We acknowledge the use of [AI tool(s)] to prepare this presentation. AI was used to [list the tasks actually completed].”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[Check with your tutor whether your intended AI use is permitted.]</a:t>
            </a:r>
          </a:p>
        </p:txBody>
      </p:sp>
    </p:spTree>
    <p:extLst>
      <p:ext uri="{BB962C8B-B14F-4D97-AF65-F5344CB8AC3E}">
        <p14:creationId xmlns:p14="http://schemas.microsoft.com/office/powerpoint/2010/main" val="2143701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61660-B328-48FF-A24C-DF9BB16A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E96E8-A48D-4C7B-8CC3-F83047CE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BF9B8-4CC0-422B-8568-E46ADAD9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Do new and returning online shoppers differ in their average time spent viewing product-related pages during an online shopping session?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86E11-4804-4C4B-AE0C-E33DF2C2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Why this question matters: [group motivation]</a:t>
            </a:r>
          </a:p>
        </p:txBody>
      </p:sp>
    </p:spTree>
    <p:extLst>
      <p:ext uri="{BB962C8B-B14F-4D97-AF65-F5344CB8AC3E}">
        <p14:creationId xmlns:p14="http://schemas.microsoft.com/office/powerpoint/2010/main" val="5438736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8DA31-3850-4D81-BDC9-4AC32ED7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Dataset and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DFE50-3FDC-4D7B-9597-7D393599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18C8F-46CF-4D14-90B9-5F103DBA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346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UCI Machine Learning Repository, dataset 468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12,330 session rows in the original CSV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18 CSV columns: 17 features plus the Revenue class label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UCI describes a one-year period and different users per session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Exact collection dates, website identity, and sampling frame are not documented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UCI reports no missing values; the downloaded CSV check found no blanks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AC783-D3A5-4E7E-9CCB-4E6D25CD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[Add the group’s note on data quality or possible logging errors]</a:t>
            </a:r>
          </a:p>
        </p:txBody>
      </p:sp>
    </p:spTree>
    <p:extLst>
      <p:ext uri="{BB962C8B-B14F-4D97-AF65-F5344CB8AC3E}">
        <p14:creationId xmlns:p14="http://schemas.microsoft.com/office/powerpoint/2010/main" val="1669119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8EEBB-EB77-4020-9B27-53B4702A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Variables and observational unit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341D0-14BE-4554-B5FD-F9073F5D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5FBD3-1B8E-4AF6-8DE3-47A31F6C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4762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Observational unit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One online-shopping session/user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Grouping variable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VisitorType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New_Visitor: 1,694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Returning_Visitor: 10,551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Other: 85, kept separate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CF526-7C0A-43B8-9CA0-412A65F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85900"/>
            <a:ext cx="50673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Response variable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ProductRelated_Duration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Total time spent in product-related page categories during a 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UCI does not state a measurement unit. Use “dataset units” unless the group verifies a unit in a primary source.</a:t>
            </a:r>
          </a:p>
        </p:txBody>
      </p:sp>
    </p:spTree>
    <p:extLst>
      <p:ext uri="{BB962C8B-B14F-4D97-AF65-F5344CB8AC3E}">
        <p14:creationId xmlns:p14="http://schemas.microsoft.com/office/powerpoint/2010/main" val="754683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5B4B9-64A1-4229-8C0F-10A8A966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EDA: visitor counts and duration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E3649-8D3A-4EDE-AF3D-CA2B6276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85C6C-81F1-4FF1-9EF8-790D7081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286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VisitorType counts</a:t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New_Visitor     1,694</a:t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Returning_Visitor     10,551</a:t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Other     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Two-group test subset: New and Returning 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3D9AE-2526-40DF-9DCB-67935B67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5334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[GROUP: insert a histogram of ProductRelated_Duration]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Describe zeros, skew, and the upper tail. Label the axis in dataset units unless a primary source verifies another unit.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D2996-FA5A-4613-ACF8-28341917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14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Counts came from the original UCI CSV. Reproduce them in Excel before presenting.</a:t>
            </a:r>
          </a:p>
        </p:txBody>
      </p:sp>
    </p:spTree>
    <p:extLst>
      <p:ext uri="{BB962C8B-B14F-4D97-AF65-F5344CB8AC3E}">
        <p14:creationId xmlns:p14="http://schemas.microsoft.com/office/powerpoint/2010/main" val="538190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13FA8-01E3-4612-8F46-AC46F7F2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EDA: compare visitor groups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67083-DCB7-4FF2-8830-4503C422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0246F-29DF-4583-A1E2-6D138828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[GROUP: insert side-by-side boxplots for New_Visitor, Returning_Visitor, and Other]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[GROUP: insert summary table by VisitorType: n, mean, SD, median, Q1, Q3, minimum, maximum]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Keep Other visible as its own category. Use only New and Returning in the hypothesis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D0E06-1EE6-4D88-9FFF-FC3555DD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Optional: add a readable display of ProductRelated pages against duration if it clarifies the comparison.</a:t>
            </a:r>
          </a:p>
        </p:txBody>
      </p:sp>
    </p:spTree>
    <p:extLst>
      <p:ext uri="{BB962C8B-B14F-4D97-AF65-F5344CB8AC3E}">
        <p14:creationId xmlns:p14="http://schemas.microsoft.com/office/powerpoint/2010/main" val="19707762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74A42-31BE-4546-B453-47759E8F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Hypotheses and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D7647-22FA-4530-B431-D283C27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83F93-9D6B-4A86-801B-0AE100F0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47625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H₀: μNew = μReturning</a:t>
            </a:r>
          </a:p>
          <a:p xmlns:a="http://schemas.openxmlformats.org/drawingml/2006/main">
            <a:pPr>
              <a:defRPr sz="22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HA: μNew ≠ μReturning</a:t>
            </a:r>
          </a:p>
          <a:p xmlns:a="http://schemas.openxmlformats.org/drawingml/2006/main">
            <a:pPr>
              <a:defRPr sz="22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α = 0.05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[Confirm the exact independent two-sample mean test taught in STAT1008.]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C55B7-A258-406A-9642-ED642E25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04950"/>
            <a:ext cx="50673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Check independence of sessions and the two separate groups.</a:t>
            </a:r>
          </a:p>
          <a:p xmlns:a="http://schemas.openxmlformats.org/drawingml/2006/main">
            <a:pPr>
              <a:defRPr sz="172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The response is numerical and the two test groups are large.</a:t>
            </a:r>
          </a:p>
          <a:p xmlns:a="http://schemas.openxmlformats.org/drawingml/2006/main">
            <a:pPr>
              <a:defRPr sz="172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Inspect skew and high observations.</a:t>
            </a:r>
          </a:p>
          <a:p xmlns:a="http://schemas.openxmlformats.org/drawingml/2006/main">
            <a:pPr>
              <a:defRPr sz="172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Welch’s test avoids an equal-variance assumption if it has been taught.</a:t>
            </a:r>
          </a:p>
          <a:p xmlns:a="http://schemas.openxmlformats.org/drawingml/2006/main">
            <a:pPr>
              <a:defRPr sz="172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The assignment sheet does not name the test variant.</a:t>
            </a:r>
          </a:p>
        </p:txBody>
      </p:sp>
    </p:spTree>
    <p:extLst>
      <p:ext uri="{BB962C8B-B14F-4D97-AF65-F5344CB8AC3E}">
        <p14:creationId xmlns:p14="http://schemas.microsoft.com/office/powerpoint/2010/main" val="1301595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2A81A-547B-41F2-9C75-4DC6CA1E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Test calculation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F1BC4-AAA6-4C49-9BCF-754F78E4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738D7-A83A-410B-969B-29E25B14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10334625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Welch’s two-sample t test, if taught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SE = √(sNew²/nNew + sReturning²/nReturning)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t = [(x̄New − x̄Returning) − 0] / 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Insert group means, SDs, sample sizes, SE, t, and Welch degrees of freedom from your Excel calculations.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B5017-8D2E-4C5F-9A63-8EF6B41F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Show the formula and substituted values. Use the course version if it differs from Welch’s method.</a:t>
            </a:r>
          </a:p>
        </p:txBody>
      </p:sp>
    </p:spTree>
    <p:extLst>
      <p:ext uri="{BB962C8B-B14F-4D97-AF65-F5344CB8AC3E}">
        <p14:creationId xmlns:p14="http://schemas.microsoft.com/office/powerpoint/2010/main" val="299848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06AE9-AD1F-40E9-8D68-D44C0889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Results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4E796-97A3-4203-AD20-C89087AC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55156-EB56-46CC-9804-3F1F43D1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632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Mean difference (New − Returning): [insert]</a:t>
            </a:r>
          </a:p>
          <a:p xmlns:a="http://schemas.openxmlformats.org/drawingml/2006/main">
            <a:pPr>
              <a:defRPr sz="202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t statistic and degrees of freedom: [insert]</a:t>
            </a:r>
          </a:p>
          <a:p xmlns:a="http://schemas.openxmlformats.org/drawingml/2006/main">
            <a:pPr>
              <a:defRPr sz="202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Two-sided critical value: [insert]</a:t>
            </a:r>
          </a:p>
          <a:p xmlns:a="http://schemas.openxmlformats.org/drawingml/2006/main">
            <a:pPr>
              <a:defRPr sz="202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Exact Excel p-value: [insert]</a:t>
            </a:r>
          </a:p>
          <a:p xmlns:a="http://schemas.openxmlformats.org/drawingml/2006/main">
            <a:pPr>
              <a:defRPr sz="202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9A5A00"/>
                </a:solidFill>
                <a:latin typeface="Bitstream Charter"/>
                <a:ea typeface="Bitstream Charter"/>
                <a:cs typeface="Bitstream Charter"/>
              </a:rPr>
              <a:t>Decision at α = 0.05: [reject / do not reject H₀]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DD8C9-AA32-4DD0-B14C-31FB4780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0363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Context conclusion: [state whether there is sufficient evidence of a difference in population mean product-related page duration]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Describe the sample direction and practical size. The observational comparison does not establish causation.</a:t>
            </a:r>
          </a:p>
        </p:txBody>
      </p:sp>
    </p:spTree>
    <p:extLst>
      <p:ext uri="{BB962C8B-B14F-4D97-AF65-F5344CB8AC3E}">
        <p14:creationId xmlns:p14="http://schemas.microsoft.com/office/powerpoint/2010/main" val="16319400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F9A1D-84E1-467B-B790-4C15DA30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Limitations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A3218-C1CC-4955-85EF-91FD3CC8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BBDC1-F2EB-4069-9D7B-18FB4B3D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632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Observational data support an association statement. They do not establish causation.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Possible context: Month, TrafficType, device/browser, Region, Revenue, and ProductRelated page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The sampling frame, website identity, exact dates, and duration unit are undocumented.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The duration distribution has a long upper tail. Explain how high observations affect the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Future work: [one improvement or follow-up question from the group]</a:t>
            </a:r>
          </a:p>
        </p:txBody>
      </p:sp>
    </p:spTree>
    <p:extLst>
      <p:ext uri="{BB962C8B-B14F-4D97-AF65-F5344CB8AC3E}">
        <p14:creationId xmlns:p14="http://schemas.microsoft.com/office/powerpoint/2010/main" val="858481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8F6ED-3F82-4C69-AC75-5A4E354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919A7-55CE-4BA3-8345-5C5AF382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675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6B2D1-A0E9-4EBB-B7B0-B439D630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0382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Sakar, C. &amp; Kastro, Y. (2018). Online Shoppers Purchasing Intention Dataset [Dataset]. UCI Machine Learning Repository. https://doi.org/10.24432/C5F88Q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Australian National University, Research School of Finance, Actuarial Studies and Statistics (2026). STAT1008 Quantitative Research Methods: Group Presentation Project. Semester 2 course instructions, supplied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3247"/>
                </a:solidFill>
                <a:latin typeface="Bitstream Charter"/>
                <a:ea typeface="Bitstream Charter"/>
                <a:cs typeface="Bitstream Charter"/>
              </a:rPr>
              <a:t>[Add any sources the group actually used. Format references using the ANU Harvard guidance.]</a:t>
            </a:r>
          </a:p>
        </p:txBody>
      </p:sp>
    </p:spTree>
    <p:extLst>
      <p:ext uri="{BB962C8B-B14F-4D97-AF65-F5344CB8AC3E}">
        <p14:creationId xmlns:p14="http://schemas.microsoft.com/office/powerpoint/2010/main" val="1068686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2026-09-27T12:32:11.5420000Z</dcterms:created>
  <dcterms:modified xsi:type="dcterms:W3CDTF">2026-09-27T12:32:11.5420000Z</dcterms:modified>
</coreProperties>
</file>